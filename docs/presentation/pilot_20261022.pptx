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LLM-only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  <c:pt idx="3">
                  <c:v>total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0">
                  <c:v>1</c:v>
                </c:pt>
                <c:pt idx="1">
                  <c:v>0.5</c:v>
                </c:pt>
                <c:pt idx="2">
                  <c:v>0.5</c:v>
                </c:pt>
                <c:pt idx="3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C6-4725-BBC1-B9D1ACF8DBC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Workflow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  <c:pt idx="3">
                  <c:v>total</c:v>
                </c:pt>
              </c:strCache>
            </c:strRef>
          </c:cat>
          <c:val>
            <c:numRef>
              <c:f>Лист1!$C$2:$C$5</c:f>
              <c:numCache>
                <c:formatCode>0%</c:formatCode>
                <c:ptCount val="4"/>
                <c:pt idx="0">
                  <c:v>1</c:v>
                </c:pt>
                <c:pt idx="1">
                  <c:v>0.5</c:v>
                </c:pt>
                <c:pt idx="2">
                  <c:v>1</c:v>
                </c:pt>
                <c:pt idx="3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C6-4725-BBC1-B9D1ACF8DBC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Single Agent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  <c:pt idx="3">
                  <c:v>total</c:v>
                </c:pt>
              </c:strCache>
            </c:strRef>
          </c:cat>
          <c:val>
            <c:numRef>
              <c:f>Лист1!$D$2:$D$5</c:f>
              <c:numCache>
                <c:formatCode>0%</c:formatCode>
                <c:ptCount val="4"/>
                <c:pt idx="0">
                  <c:v>1</c:v>
                </c:pt>
                <c:pt idx="1">
                  <c:v>0.5</c:v>
                </c:pt>
                <c:pt idx="2">
                  <c:v>0.5</c:v>
                </c:pt>
                <c:pt idx="3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C6-4725-BBC1-B9D1ACF8DBC2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MAS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  <c:pt idx="3">
                  <c:v>total</c:v>
                </c:pt>
              </c:strCache>
            </c:strRef>
          </c:cat>
          <c:val>
            <c:numRef>
              <c:f>Лист1!$E$2:$E$5</c:f>
              <c:numCache>
                <c:formatCode>0%</c:formatCode>
                <c:ptCount val="4"/>
                <c:pt idx="0">
                  <c:v>1</c:v>
                </c:pt>
                <c:pt idx="1">
                  <c:v>0.5</c:v>
                </c:pt>
                <c:pt idx="2">
                  <c:v>0.5</c:v>
                </c:pt>
                <c:pt idx="3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CC6-4725-BBC1-B9D1ACF8DB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81848464"/>
        <c:axId val="1481494432"/>
      </c:barChart>
      <c:catAx>
        <c:axId val="1681848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1494432"/>
        <c:crosses val="autoZero"/>
        <c:auto val="1"/>
        <c:lblAlgn val="ctr"/>
        <c:lblOffset val="100"/>
        <c:noMultiLvlLbl val="0"/>
      </c:catAx>
      <c:valAx>
        <c:axId val="1481494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18484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91440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1" dirty="0">
                <a:solidFill>
                  <a:srgbClr val="315EFB"/>
                </a:solidFill>
                <a:latin typeface="Aptos"/>
              </a:rPr>
              <a:t>МУЛЬТИАГЕНТНЫЕ СИСТЕМЫ · ПРОМЕЖУТОЧНЫЙ ПОКАЗ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9601200" cy="11430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4000" b="1">
                <a:solidFill>
                  <a:srgbClr val="172033"/>
                </a:solidFill>
                <a:latin typeface="Aptos"/>
              </a:rPr>
              <a:t>LLM-отладчик</a:t>
            </a:r>
            <a:br/>
            <a:r>
              <a:rPr sz="4000" b="1">
                <a:solidFill>
                  <a:srgbClr val="172033"/>
                </a:solidFill>
                <a:latin typeface="Aptos"/>
              </a:rPr>
              <a:t>Python-программ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43200"/>
            <a:ext cx="96012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100" b="0">
                <a:solidFill>
                  <a:srgbClr val="617087"/>
                </a:solidFill>
                <a:latin typeface="Aptos"/>
              </a:rPr>
              <a:t>Пилот на ConDefects: сравнение workflow, одиночного агента и последовательной MAS на 30 задачах.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7033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7EDFF"/>
          </a:solidFill>
          <a:ln>
            <a:solidFill>
              <a:srgbClr val="E7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3776472"/>
            <a:ext cx="1225296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315EFB"/>
                </a:solidFill>
                <a:latin typeface="Aptos"/>
              </a:rPr>
              <a:t>30 задач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3703320"/>
            <a:ext cx="2468880" cy="384048"/>
          </a:xfrm>
          <a:prstGeom prst="roundRect">
            <a:avLst>
              <a:gd name="adj" fmla="val 12000"/>
            </a:avLst>
          </a:prstGeom>
          <a:solidFill>
            <a:srgbClr val="E7EDFF"/>
          </a:solidFill>
          <a:ln>
            <a:solidFill>
              <a:srgbClr val="E7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13432" y="3776472"/>
            <a:ext cx="2322576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315EFB"/>
                </a:solidFill>
                <a:latin typeface="Aptos"/>
              </a:rPr>
              <a:t>логические ошибки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703320"/>
            <a:ext cx="2880360" cy="384048"/>
          </a:xfrm>
          <a:prstGeom prst="roundRect">
            <a:avLst>
              <a:gd name="adj" fmla="val 12000"/>
            </a:avLst>
          </a:prstGeom>
          <a:solidFill>
            <a:srgbClr val="E7EDFF"/>
          </a:solidFill>
          <a:ln>
            <a:solidFill>
              <a:srgbClr val="E7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93792" y="3776472"/>
            <a:ext cx="2734056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315EFB"/>
                </a:solidFill>
                <a:latin typeface="Aptos"/>
              </a:rPr>
              <a:t>все тесты должны пройти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92240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>
                <a:solidFill>
                  <a:srgbClr val="617087"/>
                </a:solidFill>
                <a:latin typeface="Aptos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  <a:latin typeface="Aptos"/>
              </a:rPr>
              <a:t>БЕНЧМАРК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972800" cy="51206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700" b="1" dirty="0" err="1">
                <a:solidFill>
                  <a:srgbClr val="172033"/>
                </a:solidFill>
                <a:latin typeface="Aptos"/>
              </a:rPr>
              <a:t>ConDefects</a:t>
            </a:r>
            <a:r>
              <a:rPr sz="2700" b="1" dirty="0">
                <a:solidFill>
                  <a:srgbClr val="172033"/>
                </a:solidFill>
                <a:latin typeface="Aptos"/>
              </a:rPr>
              <a:t>: </a:t>
            </a:r>
            <a:r>
              <a:rPr sz="2700" b="1" dirty="0" err="1">
                <a:solidFill>
                  <a:srgbClr val="172033"/>
                </a:solidFill>
                <a:latin typeface="Aptos"/>
              </a:rPr>
              <a:t>реальные</a:t>
            </a:r>
            <a:r>
              <a:rPr sz="2700" b="1" dirty="0">
                <a:solidFill>
                  <a:srgbClr val="172033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72033"/>
                </a:solidFill>
                <a:latin typeface="Aptos"/>
              </a:rPr>
              <a:t>ошибки</a:t>
            </a:r>
            <a:r>
              <a:rPr sz="2700" b="1" dirty="0">
                <a:solidFill>
                  <a:srgbClr val="172033"/>
                </a:solidFill>
                <a:latin typeface="Aptos"/>
              </a:rPr>
              <a:t> в </a:t>
            </a:r>
            <a:r>
              <a:rPr sz="2700" b="1" dirty="0" err="1">
                <a:solidFill>
                  <a:srgbClr val="172033"/>
                </a:solidFill>
                <a:latin typeface="Aptos"/>
              </a:rPr>
              <a:t>решениях</a:t>
            </a:r>
            <a:r>
              <a:rPr sz="2700" b="1" dirty="0">
                <a:solidFill>
                  <a:srgbClr val="172033"/>
                </a:solidFill>
                <a:latin typeface="Aptos"/>
              </a:rPr>
              <a:t> AtCoder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34290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810512"/>
            <a:ext cx="2907792" cy="42062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500" b="1">
                <a:solidFill>
                  <a:srgbClr val="315EFB"/>
                </a:solidFill>
                <a:latin typeface="Aptos"/>
              </a:rPr>
              <a:t>2 864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31136"/>
            <a:ext cx="2852928" cy="60939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1" dirty="0" err="1">
                <a:solidFill>
                  <a:srgbClr val="172033"/>
                </a:solidFill>
                <a:latin typeface="Aptos"/>
              </a:rPr>
              <a:t>ошибочных</a:t>
            </a:r>
            <a:r>
              <a:rPr b="1" dirty="0">
                <a:solidFill>
                  <a:srgbClr val="172033"/>
                </a:solidFill>
                <a:latin typeface="Aptos"/>
              </a:rPr>
              <a:t> Python-</a:t>
            </a:r>
            <a:r>
              <a:rPr b="1" dirty="0" err="1">
                <a:solidFill>
                  <a:srgbClr val="172033"/>
                </a:solidFill>
                <a:latin typeface="Aptos"/>
              </a:rPr>
              <a:t>программ</a:t>
            </a:r>
            <a:endParaRPr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7191" y="3342119"/>
            <a:ext cx="3051353" cy="112793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617087"/>
                </a:solidFill>
                <a:latin typeface="Aptos"/>
              </a:rPr>
              <a:t>985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уникальных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lang="ru-RU" sz="1600" dirty="0">
                <a:solidFill>
                  <a:srgbClr val="617087"/>
                </a:solidFill>
                <a:latin typeface="Aptos"/>
              </a:rPr>
              <a:t>алгоритмов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17087"/>
                </a:solidFill>
                <a:latin typeface="Aptos"/>
              </a:rPr>
              <a:t>В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среднем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49</a:t>
            </a:r>
            <a:r>
              <a:rPr lang="en-US" sz="1600" b="0" dirty="0">
                <a:solidFill>
                  <a:srgbClr val="617087"/>
                </a:solidFill>
                <a:latin typeface="Aptos"/>
              </a:rPr>
              <a:t>.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03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строки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и 2</a:t>
            </a:r>
            <a:r>
              <a:rPr lang="en-US" sz="1600" b="0" dirty="0">
                <a:solidFill>
                  <a:srgbClr val="617087"/>
                </a:solidFill>
                <a:latin typeface="Aptos"/>
              </a:rPr>
              <a:t>.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91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функции</a:t>
            </a:r>
            <a:endParaRPr sz="1600" b="0" dirty="0">
              <a:solidFill>
                <a:srgbClr val="617087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53128" y="1508760"/>
            <a:ext cx="34290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2139696"/>
            <a:ext cx="2907792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b="1" dirty="0" err="1">
                <a:solidFill>
                  <a:srgbClr val="172033"/>
                </a:solidFill>
                <a:latin typeface="Aptos"/>
              </a:rPr>
              <a:t>Что</a:t>
            </a:r>
            <a:r>
              <a:rPr b="1" dirty="0">
                <a:solidFill>
                  <a:srgbClr val="172033"/>
                </a:solidFill>
                <a:latin typeface="Aptos"/>
              </a:rPr>
              <a:t> </a:t>
            </a:r>
            <a:r>
              <a:rPr b="1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1" dirty="0">
                <a:solidFill>
                  <a:srgbClr val="172033"/>
                </a:solidFill>
                <a:latin typeface="Aptos"/>
              </a:rPr>
              <a:t> </a:t>
            </a:r>
            <a:r>
              <a:rPr b="1" dirty="0" err="1">
                <a:solidFill>
                  <a:srgbClr val="172033"/>
                </a:solidFill>
                <a:latin typeface="Aptos"/>
              </a:rPr>
              <a:t>пример</a:t>
            </a:r>
            <a:endParaRPr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1728" y="2331720"/>
            <a:ext cx="2852928" cy="23774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755559"/>
            <a:ext cx="2852928" cy="186660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617087"/>
                </a:solidFill>
                <a:latin typeface="Aptos"/>
              </a:rPr>
              <a:t>Ошибочная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исправленная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версия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размеченная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строка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ошибки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тесты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дата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рейтинг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задачи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.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Исправление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проверяется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на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всех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тестах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508760"/>
            <a:ext cx="34290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8492" y="2139696"/>
            <a:ext cx="2907792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b="1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b="1" dirty="0">
                <a:solidFill>
                  <a:srgbClr val="172033"/>
                </a:solidFill>
                <a:latin typeface="Aptos"/>
              </a:rPr>
              <a:t> </a:t>
            </a:r>
            <a:r>
              <a:rPr b="1" dirty="0" err="1">
                <a:solidFill>
                  <a:srgbClr val="172033"/>
                </a:solidFill>
                <a:latin typeface="Aptos"/>
              </a:rPr>
              <a:t>используем</a:t>
            </a:r>
            <a:r>
              <a:rPr b="1" dirty="0">
                <a:solidFill>
                  <a:srgbClr val="172033"/>
                </a:solidFill>
                <a:latin typeface="Aptos"/>
              </a:rPr>
              <a:t> в </a:t>
            </a:r>
            <a:r>
              <a:rPr b="1" dirty="0" err="1">
                <a:solidFill>
                  <a:srgbClr val="172033"/>
                </a:solidFill>
                <a:latin typeface="Aptos"/>
              </a:rPr>
              <a:t>проекте</a:t>
            </a:r>
            <a:endParaRPr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76488" y="2331720"/>
            <a:ext cx="2852928" cy="23774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63356" y="3246120"/>
            <a:ext cx="2852928" cy="112793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617087"/>
                </a:solidFill>
                <a:latin typeface="Aptos"/>
              </a:rPr>
              <a:t>Только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Python</a:t>
            </a:r>
            <a:r>
              <a:rPr lang="ru-RU" sz="1600" b="0" dirty="0">
                <a:solidFill>
                  <a:srgbClr val="617087"/>
                </a:solidFill>
                <a:latin typeface="Aptos"/>
              </a:rPr>
              <a:t> алгоритмы</a:t>
            </a:r>
            <a:endParaRPr lang="ru-RU" sz="1600" dirty="0">
              <a:solidFill>
                <a:srgbClr val="617087"/>
              </a:solidFill>
              <a:latin typeface="Aptos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617087"/>
                </a:solidFill>
                <a:latin typeface="Aptos"/>
              </a:rPr>
              <a:t>Пилот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lang="ru-RU" sz="1600" dirty="0">
                <a:solidFill>
                  <a:srgbClr val="617087"/>
                </a:solidFill>
                <a:latin typeface="Aptos"/>
              </a:rPr>
              <a:t>-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30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задач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dev,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по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10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на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уровень</a:t>
            </a:r>
            <a:endParaRPr lang="ru-RU" sz="1600" b="0" dirty="0">
              <a:solidFill>
                <a:srgbClr val="61708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5596128"/>
            <a:ext cx="10863072" cy="621792"/>
          </a:xfrm>
          <a:prstGeom prst="roundRect">
            <a:avLst>
              <a:gd name="adj" fmla="val 12000"/>
            </a:avLst>
          </a:prstGeom>
          <a:solidFill>
            <a:srgbClr val="FFF2DF"/>
          </a:solidFill>
          <a:ln>
            <a:solidFill>
              <a:srgbClr val="ED8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5669280"/>
            <a:ext cx="1042416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 dirty="0" err="1">
                <a:solidFill>
                  <a:srgbClr val="172033"/>
                </a:solidFill>
                <a:latin typeface="Aptos"/>
              </a:rPr>
              <a:t>Сложность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пилота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: easy 0–400, medium 400–1300, hard ≥1300. </a:t>
            </a:r>
            <a:endParaRPr lang="en-US" sz="1400" b="0" dirty="0">
              <a:solidFill>
                <a:srgbClr val="172033"/>
              </a:solidFill>
              <a:latin typeface="Aptos"/>
            </a:endParaRPr>
          </a:p>
          <a:p>
            <a:pPr algn="l"/>
            <a:r>
              <a:rPr sz="1400" b="0" dirty="0" err="1">
                <a:solidFill>
                  <a:srgbClr val="172033"/>
                </a:solidFill>
                <a:latin typeface="Aptos"/>
              </a:rPr>
              <a:t>Ограничение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небольшие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изолированные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программы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однострочные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ошибки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, а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большие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проекты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92240"/>
            <a:ext cx="6858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800">
                <a:solidFill>
                  <a:srgbClr val="617087"/>
                </a:solidFill>
                <a:latin typeface="Aptos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  <a:latin typeface="Aptos"/>
              </a:rPr>
              <a:t>ПОДХОДЫ И ИНСТРУМЕНТЫ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 dirty="0" err="1">
                <a:solidFill>
                  <a:srgbClr val="172033"/>
                </a:solidFill>
                <a:latin typeface="Aptos"/>
              </a:rPr>
              <a:t>Три</a:t>
            </a:r>
            <a:r>
              <a:rPr sz="2700" b="1" dirty="0">
                <a:solidFill>
                  <a:srgbClr val="172033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72033"/>
                </a:solidFill>
                <a:latin typeface="Aptos"/>
              </a:rPr>
              <a:t>способа</a:t>
            </a:r>
            <a:r>
              <a:rPr sz="2700" b="1" dirty="0">
                <a:solidFill>
                  <a:srgbClr val="172033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72033"/>
                </a:solidFill>
                <a:latin typeface="Aptos"/>
              </a:rPr>
              <a:t>организовать</a:t>
            </a:r>
            <a:r>
              <a:rPr sz="2700" b="1" dirty="0">
                <a:solidFill>
                  <a:srgbClr val="172033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72033"/>
                </a:solidFill>
                <a:latin typeface="Aptos"/>
              </a:rPr>
              <a:t>работу</a:t>
            </a:r>
            <a:r>
              <a:rPr sz="2700" b="1" dirty="0">
                <a:solidFill>
                  <a:srgbClr val="172033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72033"/>
                </a:solidFill>
                <a:latin typeface="Aptos"/>
              </a:rPr>
              <a:t>модели</a:t>
            </a:r>
            <a:endParaRPr sz="27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>
                <a:solidFill>
                  <a:srgbClr val="617087"/>
                </a:solidFill>
                <a:latin typeface="Aptos"/>
              </a:rPr>
              <a:t>3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42900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2926080" cy="44319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400" b="1" dirty="0">
                <a:solidFill>
                  <a:srgbClr val="172033"/>
                </a:solidFill>
                <a:latin typeface="Aptos"/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7168"/>
            <a:ext cx="292608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15EFB"/>
                </a:solidFill>
                <a:latin typeface="Aptos"/>
              </a:rPr>
              <a:t>LLM → код → все тесты → feedback → retry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2880360" cy="155119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 dirty="0" err="1">
                <a:solidFill>
                  <a:srgbClr val="617087"/>
                </a:solidFill>
                <a:latin typeface="Aptos"/>
              </a:rPr>
              <a:t>Инструменты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нет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. </a:t>
            </a:r>
            <a:endParaRPr lang="ru-RU" sz="1600" b="0" dirty="0">
              <a:solidFill>
                <a:srgbClr val="617087"/>
              </a:solidFill>
              <a:latin typeface="Aptos"/>
            </a:endParaRPr>
          </a:p>
          <a:p>
            <a:pPr algn="l"/>
            <a:endParaRPr lang="ru-RU" sz="1600" dirty="0">
              <a:solidFill>
                <a:srgbClr val="617087"/>
              </a:solidFill>
              <a:latin typeface="Aptos"/>
            </a:endParaRPr>
          </a:p>
          <a:p>
            <a:pPr algn="l"/>
            <a:r>
              <a:rPr sz="1600" b="0" dirty="0" err="1">
                <a:solidFill>
                  <a:srgbClr val="617087"/>
                </a:solidFill>
                <a:latin typeface="Aptos"/>
              </a:rPr>
              <a:t>Система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проверяет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синтаксис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каждый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кодовый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блок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запускает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в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песочнице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на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всех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тестах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;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до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3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попыток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508760"/>
            <a:ext cx="342900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810512"/>
            <a:ext cx="2926080" cy="44319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400" b="1" dirty="0" err="1">
                <a:solidFill>
                  <a:srgbClr val="172033"/>
                </a:solidFill>
                <a:latin typeface="Aptos"/>
              </a:rPr>
              <a:t>Одиночный</a:t>
            </a:r>
            <a:r>
              <a:rPr sz="2400" b="1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1" dirty="0" err="1">
                <a:solidFill>
                  <a:srgbClr val="172033"/>
                </a:solidFill>
                <a:latin typeface="Aptos"/>
              </a:rPr>
              <a:t>агент</a:t>
            </a:r>
            <a:endParaRPr sz="24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81728" y="2487168"/>
            <a:ext cx="292608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 dirty="0">
                <a:solidFill>
                  <a:srgbClr val="315EFB"/>
                </a:solidFill>
                <a:latin typeface="Aptos"/>
              </a:rPr>
              <a:t>LLM ↔ tools → submit → </a:t>
            </a:r>
            <a:r>
              <a:rPr sz="1200" b="1" dirty="0" err="1">
                <a:solidFill>
                  <a:srgbClr val="315EFB"/>
                </a:solidFill>
                <a:latin typeface="Aptos"/>
              </a:rPr>
              <a:t>все</a:t>
            </a:r>
            <a:r>
              <a:rPr sz="1200" b="1" dirty="0">
                <a:solidFill>
                  <a:srgbClr val="315EFB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315EFB"/>
                </a:solidFill>
                <a:latin typeface="Aptos"/>
              </a:rPr>
              <a:t>тесты</a:t>
            </a:r>
            <a:endParaRPr sz="1200" b="1" dirty="0">
              <a:solidFill>
                <a:srgbClr val="315EF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1728" y="3310128"/>
            <a:ext cx="2880360" cy="155119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 dirty="0" err="1">
                <a:solidFill>
                  <a:srgbClr val="617087"/>
                </a:solidFill>
                <a:latin typeface="Aptos"/>
              </a:rPr>
              <a:t>Инструменты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get_test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run_program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, trace,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run_tests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, submit. </a:t>
            </a:r>
            <a:endParaRPr lang="ru-RU" sz="1600" b="0" dirty="0">
              <a:solidFill>
                <a:srgbClr val="617087"/>
              </a:solidFill>
              <a:latin typeface="Aptos"/>
            </a:endParaRPr>
          </a:p>
          <a:p>
            <a:pPr algn="l"/>
            <a:endParaRPr lang="ru-RU" sz="1600" b="0" dirty="0">
              <a:solidFill>
                <a:srgbClr val="617087"/>
              </a:solidFill>
              <a:latin typeface="Aptos"/>
            </a:endParaRPr>
          </a:p>
          <a:p>
            <a:pPr algn="l"/>
            <a:r>
              <a:rPr sz="1600" b="0" dirty="0" err="1">
                <a:solidFill>
                  <a:srgbClr val="617087"/>
                </a:solidFill>
                <a:latin typeface="Aptos"/>
              </a:rPr>
              <a:t>Модель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выбирает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вызовы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;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до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30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ответов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508760"/>
            <a:ext cx="342900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1810512"/>
            <a:ext cx="2926080" cy="81253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400" b="1" dirty="0" err="1">
                <a:solidFill>
                  <a:srgbClr val="172033"/>
                </a:solidFill>
                <a:latin typeface="Aptos"/>
              </a:rPr>
              <a:t>Последовательная</a:t>
            </a:r>
            <a:r>
              <a:rPr sz="2400" b="1" dirty="0">
                <a:solidFill>
                  <a:srgbClr val="172033"/>
                </a:solidFill>
                <a:latin typeface="Aptos"/>
              </a:rPr>
              <a:t> 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487168"/>
            <a:ext cx="292608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15EFB"/>
                </a:solidFill>
                <a:latin typeface="Aptos"/>
              </a:rPr>
              <a:t>researcher → fixer → checker → retry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3310128"/>
            <a:ext cx="2880360" cy="155119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 dirty="0" err="1">
                <a:solidFill>
                  <a:srgbClr val="617087"/>
                </a:solidFill>
                <a:latin typeface="Aptos"/>
              </a:rPr>
              <a:t>Инструменты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researcher: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get_test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run_program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, trace,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run_tests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. </a:t>
            </a:r>
            <a:endParaRPr lang="ru-RU" sz="1600" b="0" dirty="0">
              <a:solidFill>
                <a:srgbClr val="617087"/>
              </a:solidFill>
              <a:latin typeface="Aptos"/>
            </a:endParaRPr>
          </a:p>
          <a:p>
            <a:pPr algn="l"/>
            <a:endParaRPr lang="ru-RU" sz="1600" dirty="0">
              <a:solidFill>
                <a:srgbClr val="617087"/>
              </a:solidFill>
              <a:latin typeface="Aptos"/>
            </a:endParaRPr>
          </a:p>
          <a:p>
            <a:pPr algn="l"/>
            <a:r>
              <a:rPr sz="1600" b="0" dirty="0">
                <a:solidFill>
                  <a:srgbClr val="617087"/>
                </a:solidFill>
                <a:latin typeface="Aptos"/>
              </a:rPr>
              <a:t>Checker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всегда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запускает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все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тесты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;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до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3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патчей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  <a:latin typeface="Aptos"/>
              </a:rPr>
              <a:t>ЭКСПЕРИМЕНТ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 dirty="0" err="1">
                <a:solidFill>
                  <a:srgbClr val="172033"/>
                </a:solidFill>
                <a:latin typeface="Aptos"/>
              </a:rPr>
              <a:t>Условия</a:t>
            </a:r>
            <a:r>
              <a:rPr sz="2700" b="1" dirty="0">
                <a:solidFill>
                  <a:srgbClr val="172033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72033"/>
                </a:solidFill>
                <a:latin typeface="Aptos"/>
              </a:rPr>
              <a:t>сравнения</a:t>
            </a:r>
            <a:endParaRPr sz="27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>
                <a:solidFill>
                  <a:srgbClr val="617087"/>
                </a:solidFill>
                <a:latin typeface="Aptos"/>
              </a:rPr>
              <a:t>4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873252" cy="320040"/>
          </a:xfrm>
          <a:prstGeom prst="roundRect">
            <a:avLst>
              <a:gd name="adj" fmla="val 12000"/>
            </a:avLst>
          </a:prstGeom>
          <a:solidFill>
            <a:srgbClr val="E7EDFF"/>
          </a:solidFill>
          <a:ln>
            <a:solidFill>
              <a:srgbClr val="E7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490472"/>
            <a:ext cx="726947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 dirty="0">
                <a:solidFill>
                  <a:srgbClr val="315EFB"/>
                </a:solidFill>
                <a:latin typeface="Aptos"/>
              </a:rPr>
              <a:t>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1348" y="1444752"/>
            <a:ext cx="1184148" cy="320040"/>
          </a:xfrm>
          <a:prstGeom prst="roundRect">
            <a:avLst>
              <a:gd name="adj" fmla="val 12000"/>
            </a:avLst>
          </a:prstGeom>
          <a:solidFill>
            <a:srgbClr val="E7EDFF"/>
          </a:solidFill>
          <a:ln>
            <a:solidFill>
              <a:srgbClr val="E7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14500" y="1490472"/>
            <a:ext cx="1037844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 dirty="0">
                <a:solidFill>
                  <a:srgbClr val="315EFB"/>
                </a:solidFill>
                <a:latin typeface="Aptos"/>
              </a:rPr>
              <a:t>30 </a:t>
            </a:r>
            <a:r>
              <a:rPr sz="1200" b="1" dirty="0" err="1">
                <a:solidFill>
                  <a:srgbClr val="315EFB"/>
                </a:solidFill>
                <a:latin typeface="Aptos"/>
              </a:rPr>
              <a:t>задач</a:t>
            </a:r>
            <a:endParaRPr sz="1200" b="1" dirty="0">
              <a:solidFill>
                <a:srgbClr val="315EFB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35224" y="1444752"/>
            <a:ext cx="2660904" cy="320040"/>
          </a:xfrm>
          <a:prstGeom prst="roundRect">
            <a:avLst>
              <a:gd name="adj" fmla="val 12000"/>
            </a:avLst>
          </a:prstGeom>
          <a:solidFill>
            <a:srgbClr val="E7EDFF"/>
          </a:solidFill>
          <a:ln>
            <a:solidFill>
              <a:srgbClr val="E7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08376" y="1490472"/>
            <a:ext cx="2514600" cy="28931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00" b="1" dirty="0">
                <a:solidFill>
                  <a:srgbClr val="315EFB"/>
                </a:solidFill>
                <a:latin typeface="Aptos"/>
              </a:rPr>
              <a:t>10 easy · 10 medium · 10 hard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54364"/>
            <a:ext cx="16459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315EFB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2454364"/>
            <a:ext cx="5724144" cy="35086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b="0" dirty="0">
                <a:solidFill>
                  <a:srgbClr val="172033"/>
                </a:solidFill>
                <a:latin typeface="Aptos"/>
              </a:rPr>
              <a:t>DeepSeek V4.1 Flash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OpenRouter</a:t>
            </a:r>
            <a:endParaRPr b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2975572"/>
            <a:ext cx="16459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315EFB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" y="2975572"/>
            <a:ext cx="5724144" cy="35086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ru-RU" dirty="0">
                <a:solidFill>
                  <a:srgbClr val="172033"/>
                </a:solidFill>
                <a:latin typeface="Aptos"/>
              </a:rPr>
              <a:t>М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аксимум</a:t>
            </a:r>
            <a:r>
              <a:rPr b="0" dirty="0">
                <a:solidFill>
                  <a:srgbClr val="172033"/>
                </a:solidFill>
                <a:latin typeface="Aptos"/>
              </a:rPr>
              <a:t> 4096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токенов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ответ</a:t>
            </a:r>
            <a:endParaRPr b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496780"/>
            <a:ext cx="16459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315EFB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" y="3496780"/>
            <a:ext cx="5724144" cy="35086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ru-RU" dirty="0">
                <a:solidFill>
                  <a:srgbClr val="172033"/>
                </a:solidFill>
                <a:latin typeface="Aptos"/>
              </a:rPr>
              <a:t>Д</a:t>
            </a:r>
            <a:r>
              <a:rPr b="0" dirty="0">
                <a:solidFill>
                  <a:srgbClr val="172033"/>
                </a:solidFill>
                <a:latin typeface="Aptos"/>
              </a:rPr>
              <a:t>о 3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попыток</a:t>
            </a:r>
            <a:r>
              <a:rPr b="0" dirty="0">
                <a:solidFill>
                  <a:srgbClr val="172033"/>
                </a:solidFill>
                <a:latin typeface="Aptos"/>
              </a:rPr>
              <a:t> и 30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шагов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задачу</a:t>
            </a:r>
            <a:endParaRPr b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017988"/>
            <a:ext cx="16459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315EFB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17988"/>
            <a:ext cx="5724144" cy="35086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ru-RU" dirty="0">
                <a:solidFill>
                  <a:srgbClr val="172033"/>
                </a:solidFill>
                <a:latin typeface="Aptos"/>
              </a:rPr>
              <a:t>О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бщий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лимит</a:t>
            </a:r>
            <a:r>
              <a:rPr b="0" dirty="0">
                <a:solidFill>
                  <a:srgbClr val="172033"/>
                </a:solidFill>
                <a:latin typeface="Aptos"/>
              </a:rPr>
              <a:t>: 60 000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токенов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задачу</a:t>
            </a:r>
            <a:endParaRPr b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4539196"/>
            <a:ext cx="16459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315EFB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" y="4539196"/>
            <a:ext cx="5724144" cy="6278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ru-RU" dirty="0">
                <a:solidFill>
                  <a:srgbClr val="172033"/>
                </a:solidFill>
                <a:latin typeface="Aptos"/>
              </a:rPr>
              <a:t>О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дин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набор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исходного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кода</a:t>
            </a:r>
            <a:r>
              <a:rPr b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тестов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всех</a:t>
            </a:r>
            <a:r>
              <a:rPr b="0" dirty="0">
                <a:solidFill>
                  <a:srgbClr val="172033"/>
                </a:solidFill>
                <a:latin typeface="Aptos"/>
              </a:rPr>
              <a:t> </a:t>
            </a:r>
            <a:r>
              <a:rPr b="0" dirty="0" err="1">
                <a:solidFill>
                  <a:srgbClr val="172033"/>
                </a:solidFill>
                <a:latin typeface="Aptos"/>
              </a:rPr>
              <a:t>подходов</a:t>
            </a:r>
            <a:endParaRPr b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45680" y="2454364"/>
            <a:ext cx="4069080" cy="2505456"/>
          </a:xfrm>
          <a:prstGeom prst="roundRect">
            <a:avLst>
              <a:gd name="adj" fmla="val 12000"/>
            </a:avLst>
          </a:prstGeom>
          <a:solidFill>
            <a:srgbClr val="FFF2DF"/>
          </a:solidFill>
          <a:ln>
            <a:solidFill>
              <a:srgbClr val="ED8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4008" y="2717336"/>
            <a:ext cx="3520440" cy="18850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172033"/>
                </a:solidFill>
                <a:latin typeface="Aptos"/>
              </a:rPr>
              <a:t>Метрики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итоговый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успех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успех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 с 1-й 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попытки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токены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/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стоимость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медиана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времени</a:t>
            </a:r>
            <a:endParaRPr lang="ru-RU" sz="1600" b="0" dirty="0">
              <a:solidFill>
                <a:srgbClr val="172033"/>
              </a:solidFill>
              <a:latin typeface="Aptos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  <a:latin typeface="Aptos"/>
              </a:rPr>
              <a:t>Н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еудачные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задачи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включены</a:t>
            </a:r>
            <a:endParaRPr lang="ru-RU" sz="1600" b="0" dirty="0">
              <a:solidFill>
                <a:srgbClr val="172033"/>
              </a:solidFill>
              <a:latin typeface="Aptos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2033"/>
                </a:solidFill>
                <a:latin typeface="Aptos"/>
              </a:rPr>
              <a:t>В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ыводы</a:t>
            </a:r>
            <a:r>
              <a:rPr sz="16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72033"/>
                </a:solidFill>
                <a:latin typeface="Aptos"/>
              </a:rPr>
              <a:t>предварительные</a:t>
            </a:r>
            <a:endParaRPr sz="1600" b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175220-7391-2925-0DE3-EFB6277D1DAF}"/>
              </a:ext>
            </a:extLst>
          </p:cNvPr>
          <p:cNvSpPr txBox="1"/>
          <p:nvPr/>
        </p:nvSpPr>
        <p:spPr>
          <a:xfrm>
            <a:off x="774191" y="5176904"/>
            <a:ext cx="16459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315EFB"/>
                </a:solidFill>
                <a:latin typeface="Aptos"/>
              </a:rPr>
              <a:t>•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6BFB66-BF75-70CD-6005-4ACF04B80009}"/>
              </a:ext>
            </a:extLst>
          </p:cNvPr>
          <p:cNvSpPr txBox="1"/>
          <p:nvPr/>
        </p:nvSpPr>
        <p:spPr>
          <a:xfrm>
            <a:off x="996695" y="5176904"/>
            <a:ext cx="5724144" cy="6278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ru-RU" dirty="0">
                <a:solidFill>
                  <a:srgbClr val="172033"/>
                </a:solidFill>
                <a:latin typeface="Aptos"/>
              </a:rPr>
              <a:t>Критерий успеха: исправленная программа проходит все тесты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  <a:latin typeface="Aptos"/>
              </a:rPr>
              <a:t>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Workflow решил 17 из 30 задач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>
                <a:solidFill>
                  <a:srgbClr val="617087"/>
                </a:solidFill>
                <a:latin typeface="Aptos"/>
              </a:rPr>
              <a:t>5 /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80641"/>
              </p:ext>
            </p:extLst>
          </p:nvPr>
        </p:nvGraphicFramePr>
        <p:xfrm>
          <a:off x="658368" y="1938528"/>
          <a:ext cx="5577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17087"/>
                          </a:solidFill>
                          <a:latin typeface="Aptos"/>
                        </a:rPr>
                        <a:t>Подход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17087"/>
                          </a:solidFill>
                          <a:latin typeface="Aptos"/>
                        </a:rPr>
                        <a:t>С 1-й попытки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17087"/>
                          </a:solidFill>
                          <a:latin typeface="Aptos"/>
                        </a:rPr>
                        <a:t>Итог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workflow: 1-я попытка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10/30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10/30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Aptos"/>
                        </a:rPr>
                        <a:t>workflow</a:t>
                      </a:r>
                    </a:p>
                  </a:txBody>
                  <a:tcPr marL="73152" marR="73152" marT="36576" marB="36576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Aptos"/>
                        </a:rPr>
                        <a:t>10/30</a:t>
                      </a:r>
                    </a:p>
                  </a:txBody>
                  <a:tcPr marL="73152" marR="73152" marT="36576" marB="36576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Aptos"/>
                        </a:rPr>
                        <a:t>17/30</a:t>
                      </a:r>
                    </a:p>
                  </a:txBody>
                  <a:tcPr marL="73152" marR="73152" marT="36576" marB="36576">
                    <a:solidFill>
                      <a:srgbClr val="E9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single_agent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13/30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13/30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mas_sequential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13/30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13/30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5330952"/>
            <a:ext cx="5394960" cy="56630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 dirty="0">
                <a:solidFill>
                  <a:srgbClr val="617087"/>
                </a:solidFill>
                <a:latin typeface="Aptos"/>
              </a:rPr>
              <a:t>С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первой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попытки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: workflow 10/30; </a:t>
            </a:r>
            <a:r>
              <a:rPr sz="1600" b="0" dirty="0" err="1">
                <a:solidFill>
                  <a:srgbClr val="617087"/>
                </a:solidFill>
                <a:latin typeface="Aptos"/>
              </a:rPr>
              <a:t>single_agent</a:t>
            </a:r>
            <a:r>
              <a:rPr sz="1600" b="0" dirty="0">
                <a:solidFill>
                  <a:srgbClr val="617087"/>
                </a:solidFill>
                <a:latin typeface="Aptos"/>
              </a:rPr>
              <a:t> 13/30; MAS 13/30.</a:t>
            </a:r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75854912-0EA5-B059-63B5-283DE9EE0C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3142802"/>
              </p:ext>
            </p:extLst>
          </p:nvPr>
        </p:nvGraphicFramePr>
        <p:xfrm>
          <a:off x="6593789" y="1938528"/>
          <a:ext cx="5037379" cy="3958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  <a:latin typeface="Aptos"/>
              </a:rPr>
              <a:t>ЗАТРАТЫ И ВРЕМЯ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Цена включает и успешные, и неудачные запуски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>
                <a:solidFill>
                  <a:srgbClr val="617087"/>
                </a:solidFill>
                <a:latin typeface="Aptos"/>
              </a:rPr>
              <a:t>6 /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536192"/>
          <a:ext cx="1086307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17087"/>
                          </a:solidFill>
                          <a:latin typeface="Aptos"/>
                        </a:rPr>
                        <a:t>Подход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17087"/>
                          </a:solidFill>
                          <a:latin typeface="Aptos"/>
                        </a:rPr>
                        <a:t>Успех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17087"/>
                          </a:solidFill>
                          <a:latin typeface="Aptos"/>
                        </a:rPr>
                        <a:t>Стоимость всего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17087"/>
                          </a:solidFill>
                          <a:latin typeface="Aptos"/>
                        </a:rPr>
                        <a:t>Цена эпизода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17087"/>
                          </a:solidFill>
                          <a:latin typeface="Aptos"/>
                        </a:rPr>
                        <a:t>Медиана времени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2033"/>
                          </a:solidFill>
                          <a:latin typeface="Aptos"/>
                        </a:rPr>
                        <a:t>workflow</a:t>
                      </a:r>
                    </a:p>
                  </a:txBody>
                  <a:tcPr marL="73152" marR="73152" marT="36576" marB="36576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033"/>
                          </a:solidFill>
                          <a:latin typeface="Aptos"/>
                        </a:rPr>
                        <a:t>17/30</a:t>
                      </a:r>
                    </a:p>
                  </a:txBody>
                  <a:tcPr marL="73152" marR="73152" marT="36576" marB="36576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033"/>
                          </a:solidFill>
                          <a:latin typeface="Aptos"/>
                        </a:rPr>
                        <a:t>$0.0915</a:t>
                      </a:r>
                    </a:p>
                  </a:txBody>
                  <a:tcPr marL="73152" marR="73152" marT="36576" marB="36576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033"/>
                          </a:solidFill>
                          <a:latin typeface="Aptos"/>
                        </a:rPr>
                        <a:t>$0.0031</a:t>
                      </a:r>
                    </a:p>
                  </a:txBody>
                  <a:tcPr marL="73152" marR="73152" marT="36576" marB="36576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033"/>
                          </a:solidFill>
                          <a:latin typeface="Aptos"/>
                        </a:rPr>
                        <a:t>16.36 с</a:t>
                      </a:r>
                    </a:p>
                  </a:txBody>
                  <a:tcPr marL="73152" marR="73152" marT="36576" marB="36576">
                    <a:solidFill>
                      <a:srgbClr val="E9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033"/>
                          </a:solidFill>
                          <a:latin typeface="Aptos"/>
                        </a:rPr>
                        <a:t>single_agent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033"/>
                          </a:solidFill>
                          <a:latin typeface="Aptos"/>
                        </a:rPr>
                        <a:t>13/30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033"/>
                          </a:solidFill>
                          <a:latin typeface="Aptos"/>
                        </a:rPr>
                        <a:t>$0.0835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033"/>
                          </a:solidFill>
                          <a:latin typeface="Aptos"/>
                        </a:rPr>
                        <a:t>$0.0028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033"/>
                          </a:solidFill>
                          <a:latin typeface="Aptos"/>
                        </a:rPr>
                        <a:t>14.98 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033"/>
                          </a:solidFill>
                          <a:latin typeface="Aptos"/>
                        </a:rPr>
                        <a:t>mas_sequential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033"/>
                          </a:solidFill>
                          <a:latin typeface="Aptos"/>
                        </a:rPr>
                        <a:t>13/30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033"/>
                          </a:solidFill>
                          <a:latin typeface="Aptos"/>
                        </a:rPr>
                        <a:t>$0.1024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033"/>
                          </a:solidFill>
                          <a:latin typeface="Aptos"/>
                        </a:rPr>
                        <a:t>$0.0034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172033"/>
                          </a:solidFill>
                          <a:latin typeface="Aptos"/>
                        </a:rPr>
                        <a:t>13.27 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800600"/>
            <a:ext cx="9601200" cy="95282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dirty="0">
                <a:solidFill>
                  <a:srgbClr val="617087"/>
                </a:solidFill>
                <a:latin typeface="Aptos"/>
              </a:rPr>
              <a:t>Workflow </a:t>
            </a:r>
            <a:r>
              <a:rPr sz="2000" b="0" dirty="0" err="1">
                <a:solidFill>
                  <a:srgbClr val="617087"/>
                </a:solidFill>
                <a:latin typeface="Aptos"/>
              </a:rPr>
              <a:t>лидирует</a:t>
            </a:r>
            <a:r>
              <a:rPr sz="20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617087"/>
                </a:solidFill>
                <a:latin typeface="Aptos"/>
              </a:rPr>
              <a:t>по</a:t>
            </a:r>
            <a:r>
              <a:rPr sz="20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617087"/>
                </a:solidFill>
                <a:latin typeface="Aptos"/>
              </a:rPr>
              <a:t>качеству</a:t>
            </a:r>
            <a:endParaRPr lang="en-US" sz="2000" dirty="0">
              <a:solidFill>
                <a:srgbClr val="617087"/>
              </a:solidFill>
              <a:latin typeface="Aptos"/>
            </a:endParaRPr>
          </a:p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617087"/>
                </a:solidFill>
                <a:latin typeface="Aptos"/>
              </a:rPr>
              <a:t>S</a:t>
            </a:r>
            <a:r>
              <a:rPr sz="2000" b="0" dirty="0">
                <a:solidFill>
                  <a:srgbClr val="617087"/>
                </a:solidFill>
                <a:latin typeface="Aptos"/>
              </a:rPr>
              <a:t>ingle</a:t>
            </a:r>
            <a:r>
              <a:rPr lang="en-US" sz="2000" dirty="0">
                <a:solidFill>
                  <a:srgbClr val="617087"/>
                </a:solidFill>
                <a:latin typeface="Aptos"/>
              </a:rPr>
              <a:t> A</a:t>
            </a:r>
            <a:r>
              <a:rPr sz="2000" b="0" dirty="0">
                <a:solidFill>
                  <a:srgbClr val="617087"/>
                </a:solidFill>
                <a:latin typeface="Aptos"/>
              </a:rPr>
              <a:t>gent </a:t>
            </a:r>
            <a:r>
              <a:rPr sz="2000" b="0" dirty="0" err="1">
                <a:solidFill>
                  <a:srgbClr val="617087"/>
                </a:solidFill>
                <a:latin typeface="Aptos"/>
              </a:rPr>
              <a:t>дешевле</a:t>
            </a:r>
            <a:r>
              <a:rPr sz="2000" b="0" dirty="0">
                <a:solidFill>
                  <a:srgbClr val="617087"/>
                </a:solidFill>
                <a:latin typeface="Aptos"/>
              </a:rPr>
              <a:t> и </a:t>
            </a:r>
            <a:r>
              <a:rPr sz="2000" b="0" dirty="0" err="1">
                <a:solidFill>
                  <a:srgbClr val="617087"/>
                </a:solidFill>
                <a:latin typeface="Aptos"/>
              </a:rPr>
              <a:t>быстрее</a:t>
            </a:r>
            <a:r>
              <a:rPr sz="20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617087"/>
                </a:solidFill>
                <a:latin typeface="Aptos"/>
              </a:rPr>
              <a:t>по</a:t>
            </a:r>
            <a:r>
              <a:rPr sz="20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617087"/>
                </a:solidFill>
                <a:latin typeface="Aptos"/>
              </a:rPr>
              <a:t>медиане</a:t>
            </a:r>
            <a:endParaRPr lang="en-US" sz="2000" b="0" dirty="0">
              <a:solidFill>
                <a:srgbClr val="6170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  <a:latin typeface="Aptos"/>
              </a:rPr>
              <a:t>ТРАССЫ: ПРИМЕРЫ ПОВЕДЕНИЯ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Три показательных случая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>
                <a:solidFill>
                  <a:srgbClr val="617087"/>
                </a:solidFill>
                <a:latin typeface="Aptos"/>
              </a:rPr>
              <a:t>7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401568" cy="44622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401568" cy="73152"/>
          </a:xfrm>
          <a:prstGeom prst="rect">
            <a:avLst/>
          </a:prstGeom>
          <a:solidFill>
            <a:srgbClr val="1EAA7A"/>
          </a:solidFill>
          <a:ln>
            <a:solidFill>
              <a:srgbClr val="1EA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783080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abc288_d ·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86000"/>
            <a:ext cx="2971800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 dirty="0" err="1">
                <a:solidFill>
                  <a:srgbClr val="172033"/>
                </a:solidFill>
                <a:latin typeface="Aptos"/>
              </a:rPr>
              <a:t>Логика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исправлена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но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44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46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тестов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— TLE.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3035808"/>
            <a:ext cx="2962656" cy="676656"/>
          </a:xfrm>
          <a:prstGeom prst="roundRect">
            <a:avLst>
              <a:gd name="adj" fmla="val 12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3154680"/>
            <a:ext cx="2743200" cy="44319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 dirty="0">
                <a:solidFill>
                  <a:srgbClr val="617087"/>
                </a:solidFill>
                <a:latin typeface="Consolas"/>
              </a:rPr>
              <a:t>attempt #1 → 44 TLE</a:t>
            </a:r>
            <a:br>
              <a:rPr sz="1200" dirty="0"/>
            </a:br>
            <a:r>
              <a:rPr sz="1200" b="0" dirty="0">
                <a:solidFill>
                  <a:srgbClr val="617087"/>
                </a:solidFill>
                <a:latin typeface="Consolas"/>
              </a:rPr>
              <a:t>attempt #2 → 46 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977639"/>
            <a:ext cx="2971800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отчёту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о TLE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ускорен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ввод-вывод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5029200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1EAA7A"/>
                </a:solidFill>
                <a:latin typeface="Aptos"/>
              </a:rPr>
              <a:t>Решено за 2 попытки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3983" y="1508760"/>
            <a:ext cx="3401568" cy="44622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43983" y="1508760"/>
            <a:ext cx="3401568" cy="73152"/>
          </a:xfrm>
          <a:prstGeom prst="rect">
            <a:avLst/>
          </a:prstGeom>
          <a:solidFill>
            <a:srgbClr val="1EAA7A"/>
          </a:solidFill>
          <a:ln>
            <a:solidFill>
              <a:srgbClr val="1EA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26864" y="1783080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abc223_d · 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286000"/>
            <a:ext cx="2971800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 dirty="0" err="1">
                <a:solidFill>
                  <a:srgbClr val="172033"/>
                </a:solidFill>
                <a:latin typeface="Aptos"/>
              </a:rPr>
              <a:t>Исследователь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получил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пример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выполнил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две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трассировки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26864" y="3035808"/>
            <a:ext cx="2962656" cy="822960"/>
          </a:xfrm>
          <a:prstGeom prst="roundRect">
            <a:avLst>
              <a:gd name="adj" fmla="val 12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36592" y="3154680"/>
            <a:ext cx="2743200" cy="6278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 dirty="0">
                <a:solidFill>
                  <a:srgbClr val="617087"/>
                </a:solidFill>
                <a:latin typeface="Consolas"/>
              </a:rPr>
              <a:t>researcher: </a:t>
            </a:r>
            <a:r>
              <a:rPr sz="1200" b="0" dirty="0" err="1">
                <a:solidFill>
                  <a:srgbClr val="617087"/>
                </a:solidFill>
                <a:latin typeface="Consolas"/>
              </a:rPr>
              <a:t>get_test</a:t>
            </a:r>
            <a:r>
              <a:rPr sz="1200" b="0" dirty="0">
                <a:solidFill>
                  <a:srgbClr val="617087"/>
                </a:solidFill>
                <a:latin typeface="Consolas"/>
              </a:rPr>
              <a:t> + trace ×2</a:t>
            </a:r>
            <a:br>
              <a:rPr sz="1200" dirty="0"/>
            </a:br>
            <a:r>
              <a:rPr sz="1200" b="0" dirty="0">
                <a:solidFill>
                  <a:srgbClr val="617087"/>
                </a:solidFill>
                <a:latin typeface="Consolas"/>
              </a:rPr>
              <a:t>fixer: code</a:t>
            </a:r>
            <a:br>
              <a:rPr sz="1200" dirty="0"/>
            </a:br>
            <a:r>
              <a:rPr sz="1200" b="0" dirty="0">
                <a:solidFill>
                  <a:srgbClr val="617087"/>
                </a:solidFill>
                <a:latin typeface="Consolas"/>
              </a:rPr>
              <a:t>checker: </a:t>
            </a:r>
            <a:r>
              <a:rPr sz="1200" b="0" dirty="0" err="1">
                <a:solidFill>
                  <a:srgbClr val="617087"/>
                </a:solidFill>
                <a:latin typeface="Consolas"/>
              </a:rPr>
              <a:t>run_tests</a:t>
            </a:r>
            <a:r>
              <a:rPr sz="1200" b="0" dirty="0">
                <a:solidFill>
                  <a:srgbClr val="617087"/>
                </a:solidFill>
                <a:latin typeface="Consolas"/>
              </a:rPr>
              <a:t> → 22 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3977639"/>
            <a:ext cx="2971800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 dirty="0" err="1">
                <a:solidFill>
                  <a:srgbClr val="172033"/>
                </a:solidFill>
                <a:latin typeface="Aptos"/>
              </a:rPr>
              <a:t>Роли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дошли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до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проверенного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исправления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5029200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1EAA7A"/>
                </a:solidFill>
                <a:latin typeface="Aptos"/>
              </a:rPr>
              <a:t>Решено с 1-й попытки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508760"/>
            <a:ext cx="3401568" cy="44622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1508760"/>
            <a:ext cx="3401568" cy="73152"/>
          </a:xfrm>
          <a:prstGeom prst="rect">
            <a:avLst/>
          </a:prstGeom>
          <a:solidFill>
            <a:srgbClr val="D34B58"/>
          </a:solidFill>
          <a:ln>
            <a:solidFill>
              <a:srgbClr val="D34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1783080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abc225_d · 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86000"/>
            <a:ext cx="2971800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 dirty="0" err="1">
                <a:solidFill>
                  <a:srgbClr val="172033"/>
                </a:solidFill>
                <a:latin typeface="Aptos"/>
              </a:rPr>
              <a:t>Исследователь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запросил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тест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запуск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две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трассировки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3035808"/>
            <a:ext cx="2962656" cy="822960"/>
          </a:xfrm>
          <a:prstGeom prst="roundRect">
            <a:avLst>
              <a:gd name="adj" fmla="val 12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3154680"/>
            <a:ext cx="2743200" cy="6278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 dirty="0" err="1">
                <a:solidFill>
                  <a:srgbClr val="617087"/>
                </a:solidFill>
                <a:latin typeface="Consolas"/>
              </a:rPr>
              <a:t>get_test</a:t>
            </a:r>
            <a:r>
              <a:rPr sz="1200" b="0" dirty="0">
                <a:solidFill>
                  <a:srgbClr val="617087"/>
                </a:solidFill>
                <a:latin typeface="Consolas"/>
              </a:rPr>
              <a:t> + </a:t>
            </a:r>
            <a:r>
              <a:rPr sz="1200" b="0" dirty="0" err="1">
                <a:solidFill>
                  <a:srgbClr val="617087"/>
                </a:solidFill>
                <a:latin typeface="Consolas"/>
              </a:rPr>
              <a:t>run_program</a:t>
            </a:r>
            <a:r>
              <a:rPr sz="1200" b="0" dirty="0">
                <a:solidFill>
                  <a:srgbClr val="617087"/>
                </a:solidFill>
                <a:latin typeface="Consolas"/>
              </a:rPr>
              <a:t> + trace ×2</a:t>
            </a:r>
            <a:br>
              <a:rPr sz="1200" dirty="0"/>
            </a:br>
            <a:r>
              <a:rPr sz="1200" b="0" dirty="0" err="1">
                <a:solidFill>
                  <a:srgbClr val="617087"/>
                </a:solidFill>
                <a:latin typeface="Consolas"/>
              </a:rPr>
              <a:t>до</a:t>
            </a:r>
            <a:r>
              <a:rPr sz="1200" b="0" dirty="0">
                <a:solidFill>
                  <a:srgbClr val="617087"/>
                </a:solidFill>
                <a:latin typeface="Consolas"/>
              </a:rPr>
              <a:t> fixer </a:t>
            </a:r>
            <a:r>
              <a:rPr sz="1200" b="0" dirty="0" err="1">
                <a:solidFill>
                  <a:srgbClr val="617087"/>
                </a:solidFill>
                <a:latin typeface="Consolas"/>
              </a:rPr>
              <a:t>не</a:t>
            </a:r>
            <a:r>
              <a:rPr sz="1200" b="0" dirty="0">
                <a:solidFill>
                  <a:srgbClr val="61708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617087"/>
                </a:solidFill>
                <a:latin typeface="Consolas"/>
              </a:rPr>
              <a:t>дошло</a:t>
            </a:r>
            <a:endParaRPr sz="1200" b="0" dirty="0">
              <a:solidFill>
                <a:srgbClr val="617087"/>
              </a:solidFill>
              <a:latin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480" y="3977639"/>
            <a:ext cx="2971800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четвёртого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расход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превысил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Aptos"/>
              </a:rPr>
              <a:t>лимит</a:t>
            </a:r>
            <a:r>
              <a:rPr sz="1400" b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029200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D34B58"/>
                </a:solidFill>
                <a:latin typeface="Aptos"/>
              </a:rPr>
              <a:t>Остановка: 71 192 / 60 000 токенов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  <a:latin typeface="Aptos"/>
              </a:rPr>
              <a:t>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Что показал пилот и что делать 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>
                <a:solidFill>
                  <a:srgbClr val="617087"/>
                </a:solidFill>
                <a:latin typeface="Aptos"/>
              </a:rP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1887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100" b="1">
                <a:solidFill>
                  <a:srgbClr val="315EFB"/>
                </a:solidFill>
                <a:latin typeface="Aptos"/>
              </a:rPr>
              <a:t>17/30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4023360" cy="38164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000" b="1" dirty="0">
                <a:solidFill>
                  <a:srgbClr val="172033"/>
                </a:solidFill>
                <a:latin typeface="Aptos"/>
              </a:rPr>
              <a:t>Workflow </a:t>
            </a:r>
            <a:r>
              <a:rPr sz="2000" b="1" dirty="0" err="1">
                <a:solidFill>
                  <a:srgbClr val="172033"/>
                </a:solidFill>
                <a:latin typeface="Aptos"/>
              </a:rPr>
              <a:t>лидирует</a:t>
            </a:r>
            <a:r>
              <a:rPr sz="2000" b="1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sz="2000" b="1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72033"/>
                </a:solidFill>
                <a:latin typeface="Aptos"/>
              </a:rPr>
              <a:t>качеству</a:t>
            </a:r>
            <a:endParaRPr sz="20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2660904"/>
            <a:ext cx="4114800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 dirty="0" err="1">
                <a:solidFill>
                  <a:srgbClr val="617087"/>
                </a:solidFill>
                <a:latin typeface="Aptos"/>
              </a:rPr>
              <a:t>На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 30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задачах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: 17/30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против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 13/30 у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двух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агентных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вариантов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77639"/>
            <a:ext cx="4023360" cy="38164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000" b="1" dirty="0" err="1">
                <a:solidFill>
                  <a:srgbClr val="172033"/>
                </a:solidFill>
                <a:latin typeface="Aptos"/>
              </a:rPr>
              <a:t>Наблюдение</a:t>
            </a:r>
            <a:r>
              <a:rPr sz="2000" b="1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sz="2000" b="1" dirty="0">
                <a:solidFill>
                  <a:srgbClr val="172033"/>
                </a:solidFill>
                <a:latin typeface="Aptos"/>
              </a:rPr>
              <a:t> 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43400"/>
            <a:ext cx="4114800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 dirty="0">
                <a:solidFill>
                  <a:srgbClr val="617087"/>
                </a:solidFill>
                <a:latin typeface="Aptos"/>
              </a:rPr>
              <a:t>MAS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решила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 13/30,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но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 17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задач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остановились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по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токенному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17087"/>
                </a:solidFill>
                <a:latin typeface="Aptos"/>
              </a:rPr>
              <a:t>лимиту</a:t>
            </a:r>
            <a:r>
              <a:rPr sz="1400" b="0" dirty="0">
                <a:solidFill>
                  <a:srgbClr val="617087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54480"/>
            <a:ext cx="5212080" cy="4251960"/>
          </a:xfrm>
          <a:prstGeom prst="roundRect">
            <a:avLst>
              <a:gd name="adj" fmla="val 5978"/>
            </a:avLst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4389120" cy="38164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000" b="1" dirty="0" err="1"/>
              <a:t>Следующие</a:t>
            </a:r>
            <a:r>
              <a:rPr sz="2000" b="1" dirty="0"/>
              <a:t> </a:t>
            </a:r>
            <a:r>
              <a:rPr sz="2000" b="1" dirty="0" err="1"/>
              <a:t>эксперименты</a:t>
            </a:r>
            <a:endParaRPr sz="20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55080" y="2773608"/>
            <a:ext cx="4389120" cy="253607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dirty="0"/>
              <a:t>1. Compaction: </a:t>
            </a:r>
            <a:r>
              <a:rPr sz="1600" dirty="0" err="1"/>
              <a:t>сжимать</a:t>
            </a:r>
            <a:r>
              <a:rPr sz="1600" dirty="0"/>
              <a:t> </a:t>
            </a:r>
            <a:r>
              <a:rPr sz="1600" dirty="0" err="1"/>
              <a:t>старые</a:t>
            </a:r>
            <a:r>
              <a:rPr sz="1600" dirty="0"/>
              <a:t> </a:t>
            </a:r>
            <a:r>
              <a:rPr sz="1600" dirty="0" err="1"/>
              <a:t>результаты</a:t>
            </a:r>
            <a:r>
              <a:rPr sz="1600" dirty="0"/>
              <a:t> </a:t>
            </a:r>
            <a:r>
              <a:rPr sz="1600" dirty="0" err="1"/>
              <a:t>инструментов</a:t>
            </a:r>
            <a:r>
              <a:rPr sz="1600" dirty="0"/>
              <a:t> в </a:t>
            </a:r>
            <a:r>
              <a:rPr sz="1600" dirty="0" err="1"/>
              <a:t>краткое</a:t>
            </a:r>
            <a:r>
              <a:rPr sz="1600" dirty="0"/>
              <a:t> </a:t>
            </a:r>
            <a:r>
              <a:rPr sz="1600" dirty="0" err="1"/>
              <a:t>резюме</a:t>
            </a:r>
            <a:r>
              <a:rPr sz="1600" dirty="0"/>
              <a:t>.</a:t>
            </a:r>
            <a:endParaRPr lang="en-US" sz="1600" dirty="0"/>
          </a:p>
          <a:p>
            <a:pPr algn="l"/>
            <a:endParaRPr lang="en-US" sz="1600" dirty="0"/>
          </a:p>
          <a:p>
            <a:r>
              <a:rPr lang="ru-RU" sz="1600" dirty="0"/>
              <a:t>2. Резерв бюджета: оставить токены для </a:t>
            </a:r>
            <a:r>
              <a:rPr lang="ru-RU" sz="1600" dirty="0" err="1"/>
              <a:t>fixer</a:t>
            </a:r>
            <a:r>
              <a:rPr lang="ru-RU" sz="1600" dirty="0"/>
              <a:t> и </a:t>
            </a:r>
            <a:r>
              <a:rPr lang="ru-RU" sz="1600" dirty="0" err="1"/>
              <a:t>checker</a:t>
            </a:r>
            <a:r>
              <a:rPr lang="ru-RU" sz="1600" dirty="0"/>
              <a:t>.</a:t>
            </a:r>
          </a:p>
          <a:p>
            <a:pPr algn="l"/>
            <a:endParaRPr lang="en-US" sz="1600" dirty="0"/>
          </a:p>
          <a:p>
            <a:pPr algn="l"/>
            <a:endParaRPr lang="en-US" sz="1600" dirty="0"/>
          </a:p>
          <a:p>
            <a:r>
              <a:rPr lang="ru-RU" sz="1600" dirty="0"/>
              <a:t>Проверка: те же 30 задач; сравнить успех, </a:t>
            </a:r>
            <a:r>
              <a:rPr lang="ru-RU" sz="1600" dirty="0" err="1"/>
              <a:t>token-limit</a:t>
            </a:r>
            <a:r>
              <a:rPr lang="ru-RU" sz="1600" dirty="0"/>
              <a:t>, токены и стоимость.</a:t>
            </a:r>
          </a:p>
          <a:p>
            <a:pPr algn="l"/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00" b="1">
                <a:solidFill>
                  <a:srgbClr val="315EFB"/>
                </a:solidFill>
                <a:latin typeface="Aptos"/>
              </a:rPr>
              <a:t>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Личный вклад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>
                <a:solidFill>
                  <a:srgbClr val="617087"/>
                </a:solidFill>
                <a:latin typeface="Aptos"/>
              </a:rPr>
              <a:t>LLM-отладчик Python-программ · промежуточный показ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800">
                <a:solidFill>
                  <a:srgbClr val="617087"/>
                </a:solidFill>
                <a:latin typeface="Aptos"/>
              </a:rPr>
              <a:t>9 /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659631"/>
              </p:ext>
            </p:extLst>
          </p:nvPr>
        </p:nvGraphicFramePr>
        <p:xfrm>
          <a:off x="658368" y="1481328"/>
          <a:ext cx="1086307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17087"/>
                          </a:solidFill>
                          <a:latin typeface="Aptos"/>
                        </a:rPr>
                        <a:t>Участник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>
                          <a:solidFill>
                            <a:srgbClr val="617087"/>
                          </a:solidFill>
                          <a:latin typeface="Aptos"/>
                        </a:rPr>
                        <a:t>В</a:t>
                      </a:r>
                      <a:r>
                        <a:rPr sz="1300" b="1" dirty="0" err="1">
                          <a:solidFill>
                            <a:srgbClr val="617087"/>
                          </a:solidFill>
                          <a:latin typeface="Aptos"/>
                        </a:rPr>
                        <a:t>клад</a:t>
                      </a:r>
                      <a:endParaRPr sz="1300" b="1" dirty="0">
                        <a:solidFill>
                          <a:srgbClr val="617087"/>
                        </a:solidFill>
                        <a:latin typeface="Aptos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Кашникова Анна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Базовая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платформа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: Docker и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конфигурация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, workflow и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одиночный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агент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инструменты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, LLM-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клиент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Калягин Дмитрий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solidFill>
                            <a:srgbClr val="172033"/>
                          </a:solidFill>
                          <a:latin typeface="Aptos"/>
                        </a:rPr>
                        <a:t>П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оследовательная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 MAS,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профили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провайдеров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англоязычные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промпты</a:t>
                      </a:r>
                      <a:r>
                        <a:rPr lang="ru-RU" sz="1300" b="0" dirty="0">
                          <a:solidFill>
                            <a:srgbClr val="172033"/>
                          </a:solidFill>
                          <a:latin typeface="Aptos"/>
                        </a:rPr>
                        <a:t>, подготовка тестов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Aptos"/>
                        </a:rPr>
                        <a:t>Аверьянова Мария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solidFill>
                            <a:srgbClr val="172033"/>
                          </a:solidFill>
                          <a:latin typeface="Aptos"/>
                        </a:rPr>
                        <a:t>Запуск тестов, разбор результатов, в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изуализатор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трасс</a:t>
                      </a:r>
                      <a:r>
                        <a:rPr sz="1300" b="0" dirty="0">
                          <a:solidFill>
                            <a:srgbClr val="172033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738</Words>
  <Application>Microsoft Office PowerPoint</Application>
  <PresentationFormat>Широкоэкранный</PresentationFormat>
  <Paragraphs>149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Дмитрий Калягин</cp:lastModifiedBy>
  <cp:revision>31</cp:revision>
  <dcterms:created xsi:type="dcterms:W3CDTF">2013-01-27T09:14:16Z</dcterms:created>
  <dcterms:modified xsi:type="dcterms:W3CDTF">2026-10-22T14:19:45Z</dcterms:modified>
  <cp:category/>
</cp:coreProperties>
</file>