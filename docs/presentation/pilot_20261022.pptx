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85216"/>
            <a:ext cx="91440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1">
                <a:solidFill>
                  <a:srgbClr val="315EFB"/>
                </a:solidFill>
                <a:latin typeface="Aptos"/>
              </a:rPr>
              <a:t>МУЛЬТИАГЕНТНЫЕ СИСТЕМЫ · ПРОМЕЖУТОЧНЫЙ ПОКАЗ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960120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4000" b="1">
                <a:solidFill>
                  <a:srgbClr val="172033"/>
                </a:solidFill>
                <a:latin typeface="Aptos"/>
              </a:rPr>
              <a:t>LLM-отладчик</a:t>
            </a:r>
            <a:br/>
            <a:r>
              <a:rPr sz="4000" b="1">
                <a:solidFill>
                  <a:srgbClr val="172033"/>
                </a:solidFill>
                <a:latin typeface="Aptos"/>
              </a:rPr>
              <a:t>Python-программ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743200"/>
            <a:ext cx="960120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0">
                <a:solidFill>
                  <a:srgbClr val="617087"/>
                </a:solidFill>
                <a:latin typeface="Aptos"/>
              </a:rPr>
              <a:t>Пилот на ConDefects: сравнение workflow, одиночного агента и последовательной MAS на 30 задачах.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3703320"/>
            <a:ext cx="137160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3776472"/>
            <a:ext cx="122529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3703320"/>
            <a:ext cx="246888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13432" y="3776472"/>
            <a:ext cx="232257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логические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3703320"/>
            <a:ext cx="2880360" cy="384048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93792" y="3776472"/>
            <a:ext cx="2734056" cy="14630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315EFB"/>
                </a:solidFill>
                <a:latin typeface="Aptos"/>
              </a:rPr>
              <a:t>все тесты должны пройти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833872"/>
            <a:ext cx="4572000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Дмитрий Калягин · 22 октября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Цель: первые измерения качества, затрат и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БЕНЧМАРК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ConDefects: реальные ошибки в решениях AtCoder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2500" b="1">
                <a:solidFill>
                  <a:srgbClr val="315EFB"/>
                </a:solidFill>
                <a:latin typeface="Aptos"/>
              </a:rPr>
              <a:t>2 864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72033"/>
                </a:solidFill>
                <a:latin typeface="Aptos"/>
              </a:rPr>
              <a:t>ошибочных Python-программ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985 уникальных задач; в среднем 49,03 строки и 2,91 функции.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172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Что содержит пример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Ошибочная и исправленная версия, размеченная строка ошибки, тесты, дата и рейтинг задачи. Исправление проверяется на всех тестах.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1508760"/>
            <a:ext cx="34290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1810512"/>
            <a:ext cx="2907792" cy="42062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Как используем в проекте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331720"/>
            <a:ext cx="2852928" cy="23774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2852928"/>
            <a:ext cx="2852928" cy="1417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617087"/>
                </a:solidFill>
                <a:latin typeface="Aptos"/>
              </a:rPr>
              <a:t>Только Python; ревизия ConDefects закреплена в конфиге. Пилот — шесть заранее выбранных задач dev. Тесты: Test.zip или зеркало AtCoder.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303520"/>
            <a:ext cx="10863072" cy="621792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5449824"/>
            <a:ext cx="10424160" cy="310896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000" b="0">
                <a:solidFill>
                  <a:srgbClr val="172033"/>
                </a:solidFill>
                <a:latin typeface="Aptos"/>
              </a:rPr>
              <a:t>Сложность пилота: easy 0–400, medium 400–1300, hard ≥1300. Ограничение: небольшие изолированные программы и однострочные ошибки, а не большие проекты.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82296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Источник: ConDefects README, update 2024/6; ревизия данных задана в configs/data.yaml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ПОДХОДЫ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способа организовать работу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3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→ код → все тесты → feedback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нет. Система проверяет синтаксис и каждый кодовый блок запускает в песочнице на всех тестах; до 3 попыток.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Одиночный 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LLM ↔ tools → submit → все тесты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Инструменты: get_test, run_program, trace, run_tests, submit. Модель выбирает вызовы; до 30 ответов.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7888" y="1508760"/>
            <a:ext cx="342900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76488" y="1810512"/>
            <a:ext cx="29260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Последовательная 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2487168"/>
            <a:ext cx="292608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15EFB"/>
                </a:solidFill>
                <a:latin typeface="Aptos"/>
              </a:rPr>
              <a:t>researcher → fixer → checker → retry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310128"/>
            <a:ext cx="2880360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Инструменты researcher: get_test, run_program, trace, run_tests. Checker всегда запускает все тесты патча; до 3 патчей.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Любой запуск чужого кода выполняется только в песочнице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ЭКСПЕРИМЕНТ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Условия сравнения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4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873252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517904"/>
            <a:ext cx="726947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1348" y="1444752"/>
            <a:ext cx="1184148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14500" y="1517904"/>
            <a:ext cx="1037844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30 задач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35224" y="1444752"/>
            <a:ext cx="2660904" cy="32004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solidFill>
              <a:srgbClr val="E7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08376" y="1517904"/>
            <a:ext cx="2514600" cy="10972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315EFB"/>
                </a:solidFill>
                <a:latin typeface="Aptos"/>
              </a:rPr>
              <a:t>10 easy · 10 medium · 10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57400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057400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DeepSeek V4.1 Flash через OpenRouter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78608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" y="2578608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temperature 0, максимум 4096 токенов на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99816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099816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до 3 попыток и 30 шагов на задачу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21024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3621024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общий лимит: 60 000 токенов на задачу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42232"/>
            <a:ext cx="164592" cy="2286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315EFB"/>
                </a:solidFill>
                <a:latin typeface="Apto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" y="4142232"/>
            <a:ext cx="5724144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172033"/>
                </a:solidFill>
                <a:latin typeface="Aptos"/>
              </a:rPr>
              <a:t>один набор исходного кода и тестов для всех подходов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965960"/>
            <a:ext cx="4069080" cy="2377440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71231" y="2331720"/>
            <a:ext cx="3520440" cy="1737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172033"/>
                </a:solidFill>
                <a:latin typeface="Aptos"/>
              </a:rPr>
              <a:t>Метрики: итоговый успех, успех с 1-й попытки, токены/стоимость и медиана времени; неудачные задачи включены. Пилот dev, выводы предварительные.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Критерий успеха: исправленная программа проходит все тесты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КАЧЕСТВО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Workflow решил 17 из 30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5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08760"/>
          <a:ext cx="55778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С 1-й попытки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Итог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workflow: 1-я попытка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10/30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4901184"/>
            <a:ext cx="5394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С первой попытки: workflow 10/30; single_agent 13/30; MAS 13/30.</a:t>
            </a:r>
          </a:p>
        </p:txBody>
      </p:sp>
      <p:pic>
        <p:nvPicPr>
          <p:cNvPr id="9" name="Picture 8" descr="success_by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44752"/>
            <a:ext cx="4892040" cy="2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Всего: 10 easy, 10 medium, 10 hard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ЗАТРАТЫ И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Цена включает и успешные, и неудачные запуски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6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36192"/>
          <a:ext cx="1086307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2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Подход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Успех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Стоимость всего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Цена эпизода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17087"/>
                          </a:solidFill>
                          <a:latin typeface="Aptos"/>
                        </a:rPr>
                        <a:t>Медиана времени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172033"/>
                          </a:solidFill>
                          <a:latin typeface="Aptos"/>
                        </a:rPr>
                        <a:t>workflow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17/30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$0.0915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$0.0031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72033"/>
                          </a:solidFill>
                          <a:latin typeface="Aptos"/>
                        </a:rPr>
                        <a:t>16.36 с</a:t>
                      </a:r>
                    </a:p>
                  </a:txBody>
                  <a:tcPr marL="73152" marR="73152" marT="36576" marB="36576">
                    <a:solidFill>
                      <a:srgbClr val="E9F8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single_agent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$0.0028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14.98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mas_sequential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13/30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$0.1024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72033"/>
                          </a:solidFill>
                          <a:latin typeface="Aptos"/>
                        </a:rPr>
                        <a:t>$0.0034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72033"/>
                          </a:solidFill>
                          <a:latin typeface="Aptos"/>
                        </a:rPr>
                        <a:t>13.27 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00600"/>
            <a:ext cx="9601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0">
                <a:solidFill>
                  <a:srgbClr val="617087"/>
                </a:solidFill>
                <a:latin typeface="Aptos"/>
              </a:rPr>
              <a:t>Workflow лидирует по качеству; single_agent дешевле и быстрее по медиане.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053328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0">
                <a:solidFill>
                  <a:srgbClr val="617087"/>
                </a:solidFill>
                <a:latin typeface="Aptos"/>
              </a:rPr>
              <a:t>Токены и стоимость учитывают все вызовы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ТРАССЫ: ПРИМЕРЫ ПОВЕДЕНИЯ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Три показательных случая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7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abc223_f ·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Первая попытка не прошла полный набор тестов.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attempt #1 → failed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attempt #2 → passed_all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Обратная связь позволила изменить патч.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за 2 попытки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3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43983" y="1508760"/>
            <a:ext cx="3401568" cy="73152"/>
          </a:xfrm>
          <a:prstGeom prst="rect">
            <a:avLst/>
          </a:prstGeom>
          <a:solidFill>
            <a:srgbClr val="1EAA7A"/>
          </a:solidFill>
          <a:ln>
            <a:solidFill>
              <a:srgbClr val="1EA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6864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abc225_d · MAS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6864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получил пример и выполнил две трассировки.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6864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36592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researcher: get_test + trace ×2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fixer: code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checker: run_tests → 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6864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Роли дошли до проверенного исправления.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1EAA7A"/>
                </a:solidFill>
                <a:latin typeface="Aptos"/>
              </a:rPr>
              <a:t>Решено с 1-й попытки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508760"/>
            <a:ext cx="3401568" cy="446227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3401568" cy="73152"/>
          </a:xfrm>
          <a:prstGeom prst="rect">
            <a:avLst/>
          </a:prstGeom>
          <a:solidFill>
            <a:srgbClr val="D34B58"/>
          </a:solidFill>
          <a:ln>
            <a:solidFill>
              <a:srgbClr val="D34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1783080"/>
            <a:ext cx="297180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abc223_d · MAS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86000"/>
            <a:ext cx="2971800" cy="6583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Исследователь получил пять тестов и выполнил три трассировки.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035808"/>
            <a:ext cx="2962656" cy="676656"/>
          </a:xfrm>
          <a:prstGeom prst="roundRect">
            <a:avLst>
              <a:gd name="adj" fmla="val 12000"/>
            </a:avLst>
          </a:prstGeom>
          <a:solidFill>
            <a:srgbClr val="EDF1F7"/>
          </a:solidFill>
          <a:ln>
            <a:solidFill>
              <a:srgbClr val="ED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2208" y="3154680"/>
            <a:ext cx="2743200" cy="42062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Consolas"/>
              </a:rPr>
              <a:t>get_test ×5 + trace ×3</a:t>
            </a:r>
            <a:br/>
            <a:r>
              <a:rPr sz="900" b="0">
                <a:solidFill>
                  <a:srgbClr val="617087"/>
                </a:solidFill>
                <a:latin typeface="Consolas"/>
              </a:rPr>
              <a:t>до fixer не дошло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977639"/>
            <a:ext cx="2971800" cy="6217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0">
                <a:solidFill>
                  <a:srgbClr val="172033"/>
                </a:solidFill>
                <a:latin typeface="Aptos"/>
              </a:rPr>
              <a:t>После четвёртого ответа расход превысил лимит.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2971800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D34B58"/>
                </a:solidFill>
                <a:latin typeface="Aptos"/>
              </a:rPr>
              <a:t>Остановка: 33 642 / 30 000 токенов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Карточки: реальные сохранённые трассы 6-задачного пилота; сводные числа выше — для 30 задач.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Что показал пилот и что делать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8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17/30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Workflow лидирует по качеству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146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На 30 задачах: 17/30 против 13/30 у двух агентных вариантов.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1887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100" b="1">
                <a:solidFill>
                  <a:srgbClr val="315EFB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77639"/>
            <a:ext cx="40233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1">
                <a:solidFill>
                  <a:srgbClr val="172033"/>
                </a:solidFill>
                <a:latin typeface="Aptos"/>
              </a:rPr>
              <a:t>Наблюдение по 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43400"/>
            <a:ext cx="4114800" cy="5486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617087"/>
                </a:solidFill>
                <a:latin typeface="Aptos"/>
              </a:rPr>
              <a:t>MAS решила 13/30, но 17 задач остановились по токенному лимиту.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554480"/>
            <a:ext cx="5212080" cy="4251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B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43891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Следующий эксперимент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42316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1. Сделать общий токенный лимит жёстким до нового вызова модели.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06324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2. Ужать историю исследования и повторить ту же выборку.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3703320"/>
            <a:ext cx="438912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172033"/>
                </a:solidFill>
                <a:latin typeface="Aptos"/>
              </a:rPr>
              <a:t>3. Разобрать реальные успехи и провалы по сохранённым трассам.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526280"/>
            <a:ext cx="4526280" cy="841248"/>
          </a:xfrm>
          <a:prstGeom prst="roundRect">
            <a:avLst>
              <a:gd name="adj" fmla="val 12000"/>
            </a:avLst>
          </a:prstGeom>
          <a:solidFill>
            <a:srgbClr val="FFF2DF"/>
          </a:solidFill>
          <a:ln>
            <a:solidFill>
              <a:srgbClr val="ED8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4663440"/>
            <a:ext cx="420624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17 задач MAS и 16 задач single_agent остановились по токенному лимиту.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44768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900" b="0">
                <a:solidFill>
                  <a:srgbClr val="617087"/>
                </a:solidFill>
                <a:latin typeface="Aptos"/>
              </a:rPr>
              <a:t>Выводы предварительные: выборка dev из 30 задач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solidFill>
              <a:srgbClr val="F7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10515600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315EFB"/>
                </a:solidFill>
                <a:latin typeface="Aptos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972800" cy="5120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700" b="1">
                <a:solidFill>
                  <a:srgbClr val="172033"/>
                </a:solidFill>
                <a:latin typeface="Aptos"/>
              </a:rPr>
              <a:t>Личный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92240"/>
            <a:ext cx="73152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800" b="0">
                <a:solidFill>
                  <a:srgbClr val="617087"/>
                </a:solidFill>
                <a:latin typeface="Aptos"/>
              </a:rPr>
              <a:t>LLM-отладчик Python-программ · промежуточный показ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492240"/>
            <a:ext cx="685800" cy="1645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800">
                <a:solidFill>
                  <a:srgbClr val="617087"/>
                </a:solidFill>
                <a:latin typeface="Aptos"/>
              </a:rPr>
              <a:t>9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659631"/>
              </p:ext>
            </p:extLst>
          </p:nvPr>
        </p:nvGraphicFramePr>
        <p:xfrm>
          <a:off x="658368" y="1481328"/>
          <a:ext cx="10863072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17087"/>
                          </a:solidFill>
                          <a:latin typeface="Aptos"/>
                        </a:rPr>
                        <a:t>Участник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 dirty="0">
                          <a:solidFill>
                            <a:srgbClr val="617087"/>
                          </a:solidFill>
                          <a:latin typeface="Aptos"/>
                        </a:rPr>
                        <a:t>В</a:t>
                      </a:r>
                      <a:r>
                        <a:rPr sz="1300" b="1" dirty="0" err="1">
                          <a:solidFill>
                            <a:srgbClr val="617087"/>
                          </a:solidFill>
                          <a:latin typeface="Aptos"/>
                        </a:rPr>
                        <a:t>клад</a:t>
                      </a:r>
                      <a:endParaRPr sz="1300" b="1" dirty="0">
                        <a:solidFill>
                          <a:srgbClr val="617087"/>
                        </a:solidFill>
                        <a:latin typeface="Aptos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Кашникова Анна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Базовая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платформа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: Docker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конфигурация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workflow и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одиночный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агент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инструменты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LLM-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клиент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Калягин Дмитрий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П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оследовательная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MAS,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профили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провайдеров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англоязычные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промпты</a:t>
                      </a:r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, подготовка тестов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33"/>
                          </a:solidFill>
                          <a:latin typeface="Aptos"/>
                        </a:rPr>
                        <a:t>Аверьянова Мария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 dirty="0">
                          <a:solidFill>
                            <a:srgbClr val="172033"/>
                          </a:solidFill>
                          <a:latin typeface="Aptos"/>
                        </a:rPr>
                        <a:t>Запуск тестов, разбор результатов, в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изуализатор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 </a:t>
                      </a:r>
                      <a:r>
                        <a:rPr sz="1300" b="0" dirty="0" err="1">
                          <a:solidFill>
                            <a:srgbClr val="172033"/>
                          </a:solidFill>
                          <a:latin typeface="Aptos"/>
                        </a:rPr>
                        <a:t>трасс</a:t>
                      </a:r>
                      <a:r>
                        <a:rPr sz="1300" b="0" dirty="0">
                          <a:solidFill>
                            <a:srgbClr val="172033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866</Words>
  <Application>Microsoft Office PowerPoint</Application>
  <PresentationFormat>Широкоэкранный</PresentationFormat>
  <Paragraphs>149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Калягин</cp:lastModifiedBy>
  <cp:revision>8</cp:revision>
  <dcterms:created xsi:type="dcterms:W3CDTF">2013-01-27T09:14:16Z</dcterms:created>
  <dcterms:modified xsi:type="dcterms:W3CDTF">2026-10-22T03:37:09Z</dcterms:modified>
  <cp:category/>
</cp:coreProperties>
</file>